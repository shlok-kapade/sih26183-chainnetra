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chainnetra.shelfio.in/" TargetMode="External"/><Relationship Id="rId6" Type="http://schemas.openxmlformats.org/officeDocument/2006/relationships/hyperlink" Target="https://youtu.be/LiQ5pdvHW3k" TargetMode="External"/><Relationship Id="rId7" Type="http://schemas.openxmlformats.org/officeDocument/2006/relationships/hyperlink" Target="https://github.com/Shlok-kapade/sih26183-chainnetra.g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-18288000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8288000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20574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Problem Statement ID –  </a:t>
            </a:r>
            <a:r>
              <a:rPr b="0" sz="950">
                <a:solidFill>
                  <a:srgbClr val="1E293B"/>
                </a:solidFill>
                <a:latin typeface="Arial"/>
              </a:rPr>
              <a:t>SIH26183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3134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Problem Statement Title –  </a:t>
            </a:r>
            <a:r>
              <a:rPr b="0" sz="950">
                <a:solidFill>
                  <a:srgbClr val="1E293B"/>
                </a:solidFill>
                <a:latin typeface="Arial"/>
              </a:rPr>
              <a:t>Real-Time Identification of Fraud-Linked Cryptocurrency
Exchanges from Victim-Reported Suspect Wallet Addresses
through Automated Blockchain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295351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Theme –  </a:t>
            </a:r>
            <a:r>
              <a:rPr b="0" sz="950">
                <a:solidFill>
                  <a:srgbClr val="1E293B"/>
                </a:solidFill>
                <a:latin typeface="Arial"/>
              </a:rPr>
              <a:t>Blockchain &amp; Cybersecurity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20954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PS Category –  </a:t>
            </a:r>
            <a:r>
              <a:rPr b="0" sz="950">
                <a:solidFill>
                  <a:srgbClr val="1E293B"/>
                </a:solidFill>
                <a:latin typeface="Arial"/>
              </a:rPr>
              <a:t>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46557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Organisation –  </a:t>
            </a:r>
            <a:r>
              <a:rPr b="0" sz="950">
                <a:solidFill>
                  <a:srgbClr val="1E293B"/>
                </a:solidFill>
                <a:latin typeface="Arial"/>
              </a:rPr>
              <a:t>Ministry of Home Affairs (I4C)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21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Team ID –  </a:t>
            </a:r>
            <a:r>
              <a:rPr b="0" sz="950">
                <a:solidFill>
                  <a:srgbClr val="1E293B"/>
                </a:solidFill>
                <a:latin typeface="Arial"/>
              </a:rPr>
              <a:t>26183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9776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Team Name (Registered on portal) –  </a:t>
            </a:r>
            <a:r>
              <a:rPr b="0" sz="950">
                <a:solidFill>
                  <a:srgbClr val="1E293B"/>
                </a:solidFill>
                <a:latin typeface="Arial"/>
              </a:rPr>
              <a:t>code2trip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23367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1E3A8A"/>
                </a:solidFill>
                <a:latin typeface="Arial"/>
              </a:rPr>
              <a:t>Institute –  </a:t>
            </a:r>
            <a:r>
              <a:rPr b="0" sz="950">
                <a:solidFill>
                  <a:srgbClr val="1E293B"/>
                </a:solidFill>
                <a:latin typeface="Arial"/>
              </a:rPr>
              <a:t>code2trip Team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010912"/>
            <a:ext cx="5852160" cy="12984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010912"/>
            <a:ext cx="73152" cy="12984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120640"/>
            <a:ext cx="54864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1E3A8A"/>
                </a:solidFill>
                <a:latin typeface="Arial"/>
              </a:rPr>
              <a:t>PROPOSED SOLUTION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ChainNetra</a:t>
            </a:r>
          </a:p>
          <a:p>
            <a:r>
              <a:rPr sz="850">
                <a:solidFill>
                  <a:srgbClr val="64748B"/>
                </a:solidFill>
                <a:latin typeface="Arial"/>
              </a:rPr>
              <a:t>Autonomous Cyber-Forensic Intelligence Engine for Real-Time Exchange Identification, Asset Freezing &amp; Courtroom Evidence Dossier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182880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8288000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182880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code2trip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1691640" y="32918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Georgia"/>
              </a:rPr>
              <a:t>ChainNetra: Autonomous Exchange Identification Engine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1078992"/>
            <a:ext cx="11274552" cy="3291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ectangle 15364"/>
          <p:cNvSpPr/>
          <p:nvPr/>
        </p:nvSpPr>
        <p:spPr>
          <a:xfrm>
            <a:off x="457200" y="1078992"/>
            <a:ext cx="73152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40080" y="1143000"/>
            <a:ext cx="10972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1E3A8A"/>
                </a:solidFill>
                <a:latin typeface="Arial"/>
              </a:rPr>
              <a:t>Real-time blockchain forensics that traces stolen crypto across wallets, identifies the destination exchange, and auto-generates a court-ready freeze order — faster than any manual investigation.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1536192"/>
            <a:ext cx="4114800" cy="2560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457200" y="1527048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PROPOSED SOLUTION: 4-STAGE CORE FORENSIC PIPELINE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1865376"/>
            <a:ext cx="2578608" cy="15727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457200" y="1865376"/>
            <a:ext cx="73152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566928" y="1956816"/>
            <a:ext cx="320040" cy="20116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566928" y="1975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932688" y="1975104"/>
            <a:ext cx="20299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E3A8A"/>
                </a:solidFill>
                <a:latin typeface="Arial"/>
              </a:rPr>
              <a:t>SUSPECT WALLET INTAKE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594360" y="2231136"/>
            <a:ext cx="2350008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• Scans TRON, Ethereum &amp; Bitcoin from a single suspect address
• Decodes hidden smart-contract token transfers (zero missed txns)
• SHA-256 timestamps every API response for tamper-proof custody</a:t>
            </a:r>
          </a:p>
        </p:txBody>
      </p:sp>
      <p:sp>
        <p:nvSpPr>
          <p:cNvPr id="15375" name="Right Arrow 15374"/>
          <p:cNvSpPr/>
          <p:nvPr/>
        </p:nvSpPr>
        <p:spPr>
          <a:xfrm>
            <a:off x="3090672" y="2523744"/>
            <a:ext cx="210312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3355848" y="1865376"/>
            <a:ext cx="2578608" cy="15727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ectangle 15376"/>
          <p:cNvSpPr/>
          <p:nvPr/>
        </p:nvSpPr>
        <p:spPr>
          <a:xfrm>
            <a:off x="3355848" y="1865376"/>
            <a:ext cx="73152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3465576" y="1956816"/>
            <a:ext cx="320040" cy="20116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3465576" y="1975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3831336" y="1975104"/>
            <a:ext cx="20299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E3A8A"/>
                </a:solidFill>
                <a:latin typeface="Arial"/>
              </a:rPr>
              <a:t>MULTI-HOP FUND TRACING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3493008" y="2231136"/>
            <a:ext cx="2350008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• Autonomously follows funds through 10+ burner wallets across multiple hops
• Mathematically tracks exact stolen fraction across all splits
• Detects &amp; removes wash-trade loops injected to mislead tracers</a:t>
            </a:r>
          </a:p>
        </p:txBody>
      </p:sp>
      <p:sp>
        <p:nvSpPr>
          <p:cNvPr id="15382" name="Right Arrow 15381"/>
          <p:cNvSpPr/>
          <p:nvPr/>
        </p:nvSpPr>
        <p:spPr>
          <a:xfrm>
            <a:off x="5989320" y="2523744"/>
            <a:ext cx="210312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6254496" y="1865376"/>
            <a:ext cx="2578608" cy="15727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ectangle 15383"/>
          <p:cNvSpPr/>
          <p:nvPr/>
        </p:nvSpPr>
        <p:spPr>
          <a:xfrm>
            <a:off x="6254496" y="1865376"/>
            <a:ext cx="73152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6364224" y="1956816"/>
            <a:ext cx="320040" cy="20116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6364224" y="1975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6729984" y="1975104"/>
            <a:ext cx="20299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E3A8A"/>
                </a:solidFill>
                <a:latin typeface="Arial"/>
              </a:rPr>
              <a:t>EXCHANGE IDENTIFICATION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6391656" y="2231136"/>
            <a:ext cx="2350008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• Clusters deposit wallets to unmask the receiving exchange
• 7 pattern detectors flag peel chains, smurfing &amp; rapid forwarding
• 4-tier confidence scoring: CONFIRMED / PROBABLE / POSSIBLE / UNATTRIBUTED</a:t>
            </a:r>
          </a:p>
        </p:txBody>
      </p:sp>
      <p:sp>
        <p:nvSpPr>
          <p:cNvPr id="15389" name="Right Arrow 15388"/>
          <p:cNvSpPr/>
          <p:nvPr/>
        </p:nvSpPr>
        <p:spPr>
          <a:xfrm>
            <a:off x="8887968" y="2523744"/>
            <a:ext cx="210312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9153144" y="1865376"/>
            <a:ext cx="2578608" cy="15727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Rectangle 15390"/>
          <p:cNvSpPr/>
          <p:nvPr/>
        </p:nvSpPr>
        <p:spPr>
          <a:xfrm>
            <a:off x="9153144" y="1865376"/>
            <a:ext cx="73152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9262872" y="1956816"/>
            <a:ext cx="320040" cy="20116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9262872" y="1975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9628632" y="1975104"/>
            <a:ext cx="20299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E3A8A"/>
                </a:solidFill>
                <a:latin typeface="Arial"/>
              </a:rPr>
              <a:t>LEGAL FREEZE &amp; DOSSIER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9290304" y="2231136"/>
            <a:ext cx="2350008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• Maps exchange to its FIU-IND-designated Nodal LEO contact
• 1-click Section 94/106 BNSS freeze notice pre-filled with evidence
• Court-ready PDF with SHA-256 certified blockchain proof of funds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457200" y="3611880"/>
            <a:ext cx="411480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457200" y="3602736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HOW IT ADDRESSES CRITICAL POLICING BOTTLENECKS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Rectangle 15398"/>
          <p:cNvSpPr/>
          <p:nvPr/>
        </p:nvSpPr>
        <p:spPr>
          <a:xfrm>
            <a:off x="457200" y="3931920"/>
            <a:ext cx="73152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TextBox 15399"/>
          <p:cNvSpPr txBox="1"/>
          <p:nvPr/>
        </p:nvSpPr>
        <p:spPr>
          <a:xfrm>
            <a:off x="640080" y="3995928"/>
            <a:ext cx="5166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EA580C"/>
                </a:solidFill>
              </a:rPr>
              <a:t>The 'Golden Hour' Recovery Gap: </a:t>
            </a:r>
            <a:r>
              <a:rPr sz="750">
                <a:solidFill>
                  <a:srgbClr val="1E293B"/>
                </a:solidFill>
              </a:rPr>
              <a:t>Fraudsters liquidate crypto via P2P within 1–2 hours. Manual tracing takes 6–12 hours. ChainNetra automates multi-hop graph traversal, enabling proactive freezing before fiat conversion.
</a:t>
            </a:r>
          </a:p>
          <a:p>
            <a:r>
              <a:rPr b="1" sz="800">
                <a:solidFill>
                  <a:srgbClr val="EA580C"/>
                </a:solidFill>
              </a:rPr>
              <a:t>Overcoming Peeling &amp; Smurfing Layering: </a:t>
            </a:r>
            <a:r>
              <a:rPr sz="750">
                <a:solidFill>
                  <a:srgbClr val="1E293B"/>
                </a:solidFill>
              </a:rPr>
              <a:t>Syndicates split funds into micro-transfers across dozens of burner hops. ChainNetra's mathematical engine automatically tracks the exact fractional stolen value through every branch.
</a:t>
            </a:r>
          </a:p>
          <a:p>
            <a:r>
              <a:rPr b="1" sz="800">
                <a:solidFill>
                  <a:srgbClr val="EA580C"/>
                </a:solidFill>
              </a:rPr>
              <a:t>Internal Smart Contract Visibility: </a:t>
            </a:r>
            <a:r>
              <a:rPr sz="750">
                <a:solidFill>
                  <a:srgbClr val="1E293B"/>
                </a:solidFill>
              </a:rPr>
              <a:t>Scammers exploit DEX swaps and TRC-20 internal contract calls where public explorers display false zero balances. ChainNetra decodes execution traces natively with zero transaction drop.
</a:t>
            </a:r>
          </a:p>
          <a:p>
            <a:r>
              <a:rPr b="1" sz="800">
                <a:solidFill>
                  <a:srgbClr val="EA580C"/>
                </a:solidFill>
              </a:rPr>
              <a:t>Eliminating Wrongful Freezes: </a:t>
            </a:r>
            <a:r>
              <a:rPr sz="750">
                <a:solidFill>
                  <a:srgbClr val="1E293B"/>
                </a:solidFill>
              </a:rPr>
              <a:t>Strict 4-tier evidentiary confidence scoring ensures innocent merchants or payment gateways are never wrongfully frozen, protecting law enforcement from legal liability.
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6245352" y="3611880"/>
            <a:ext cx="411480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6245352" y="3602736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INNOVATION AND DOMAIN UNIQUENESS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6245352" y="3931920"/>
            <a:ext cx="5486400" cy="2286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Rectangle 15403"/>
          <p:cNvSpPr/>
          <p:nvPr/>
        </p:nvSpPr>
        <p:spPr>
          <a:xfrm>
            <a:off x="6245352" y="3931920"/>
            <a:ext cx="73152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6428232" y="3995928"/>
            <a:ext cx="5166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00">
                <a:solidFill>
                  <a:srgbClr val="059669"/>
                </a:solidFill>
              </a:rPr>
              <a:t>Deposit Wallet Reverse Attribution: </a:t>
            </a:r>
            <a:r>
              <a:rPr sz="750">
                <a:solidFill>
                  <a:srgbClr val="1E293B"/>
                </a:solidFill>
              </a:rPr>
              <a:t>Detects high-frequency exchange deposit wallets without requiring internal exchange access, revealing the destination exchange directly from public blockchain patterns.
</a:t>
            </a:r>
          </a:p>
          <a:p>
            <a:r>
              <a:rPr b="1" sz="800">
                <a:solidFill>
                  <a:srgbClr val="059669"/>
                </a:solidFill>
              </a:rPr>
              <a:t>Zero-Cost Architecture for Police Units: </a:t>
            </a:r>
            <a:r>
              <a:rPr sz="750">
                <a:solidFill>
                  <a:srgbClr val="1E293B"/>
                </a:solidFill>
              </a:rPr>
              <a:t>Built 100% on open blockchain infrastructure and public intelligence, eliminating multi-lakh commercial software licenses for grassroots cyber cells.
</a:t>
            </a:r>
          </a:p>
          <a:p>
            <a:r>
              <a:rPr b="1" sz="800">
                <a:solidFill>
                  <a:srgbClr val="059669"/>
                </a:solidFill>
              </a:rPr>
              <a:t>Automated Indian Legal Compliance: </a:t>
            </a:r>
            <a:r>
              <a:rPr sz="750">
                <a:solidFill>
                  <a:srgbClr val="1E293B"/>
                </a:solidFill>
              </a:rPr>
              <a:t>Bridges technical blockchain evidence directly into Indian criminal procedure—auto-generating Section 94/106 BNSS freeze requisitions with pre-filled transaction hashes.
</a:t>
            </a:r>
          </a:p>
          <a:p>
            <a:r>
              <a:rPr b="1" sz="800">
                <a:solidFill>
                  <a:srgbClr val="059669"/>
                </a:solidFill>
              </a:rPr>
              <a:t>Syndicate &amp; Mule Network Correlation: </a:t>
            </a:r>
            <a:r>
              <a:rPr sz="750">
                <a:solidFill>
                  <a:srgbClr val="1E293B"/>
                </a:solidFill>
              </a:rPr>
              <a:t>Cross-references separate victim complaints across states to discover shared deposit wallets, unmasking organized interstate cybercrime syndicates.
</a:t>
            </a:r>
          </a:p>
          <a:p>
            <a:r>
              <a:rPr b="1" sz="800">
                <a:solidFill>
                  <a:srgbClr val="059669"/>
                </a:solidFill>
              </a:rPr>
              <a:t>Browser Addon for Field Investigators: </a:t>
            </a:r>
            <a:r>
              <a:rPr sz="750">
                <a:solidFill>
                  <a:srgbClr val="1E293B"/>
                </a:solidFill>
              </a:rPr>
              <a:t>A Chromium extension lets officers check any wallet address on TronScan/Etherscan live — instantly overlaying ChainNetra's taint score without switching tools.
</a:t>
            </a:r>
          </a:p>
          <a:p>
            <a:r>
              <a:rPr b="1" sz="800">
                <a:solidFill>
                  <a:srgbClr val="059669"/>
                </a:solidFill>
              </a:rPr>
              <a:t>Court-Admissible Cryptographic Custody: </a:t>
            </a:r>
            <a:r>
              <a:rPr sz="750">
                <a:solidFill>
                  <a:srgbClr val="1E293B"/>
                </a:solidFill>
              </a:rPr>
              <a:t>Every external API response is SHA-256 hashed and stored with provenance, satisfying Section 63 BSA (Sec 65B IEA) electronic-evidence admissibility requirements.
</a:t>
            </a:r>
          </a:p>
        </p:txBody>
      </p:sp>
      <p:sp>
        <p:nvSpPr>
          <p:cNvPr id="15406" name="Rectangle 1540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Rectangle 1540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TextBox 15407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SIH 2026  |  PS SIH26183 — ChainNetra  |  Team code2trip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288000" y="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182880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182880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code2trip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691640" y="32918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Georgia"/>
              </a:rPr>
              <a:t>Technical Approach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051560"/>
            <a:ext cx="6035040" cy="23774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042416"/>
            <a:ext cx="6035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METHODOLOGY &amp; FORENSIC PIPELINE: AUTOMATED INVESTIGATION LIFECYCLE</a:t>
            </a:r>
          </a:p>
        </p:txBody>
      </p:sp>
      <p:pic>
        <p:nvPicPr>
          <p:cNvPr id="17414" name="Picture 17413" descr="chainnetra_pipeline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16736"/>
            <a:ext cx="11274552" cy="2889504"/>
          </a:xfrm>
          <a:prstGeom prst="rect">
            <a:avLst/>
          </a:prstGeom>
        </p:spPr>
      </p:pic>
      <p:sp>
        <p:nvSpPr>
          <p:cNvPr id="17415" name="Rounded Rectangle 17414"/>
          <p:cNvSpPr/>
          <p:nvPr/>
        </p:nvSpPr>
        <p:spPr>
          <a:xfrm>
            <a:off x="457200" y="4334256"/>
            <a:ext cx="3017520" cy="23774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325112"/>
            <a:ext cx="30175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750">
                <a:solidFill>
                  <a:srgbClr val="FFFFFF"/>
                </a:solidFill>
                <a:latin typeface="Arial"/>
              </a:rPr>
              <a:t>KEY FORENSIC CAPABILITIES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4590288"/>
            <a:ext cx="3383280" cy="1828799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457200" y="4590288"/>
            <a:ext cx="73152" cy="182879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85216" y="4626864"/>
            <a:ext cx="3163824" cy="1755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720">
                <a:solidFill>
                  <a:srgbClr val="1E3A8A"/>
                </a:solidFill>
              </a:rPr>
              <a:t>Multi-Chain Tracking: </a:t>
            </a:r>
            <a:r>
              <a:rPr sz="680">
                <a:solidFill>
                  <a:srgbClr val="1E293B"/>
                </a:solidFill>
              </a:rPr>
              <a:t>Traces TRON (USDT), Ethereum &amp; Bitcoin in one unified graph.</a:t>
            </a:r>
          </a:p>
          <a:p>
            <a:pPr>
              <a:spcAft>
                <a:spcPts val="200"/>
              </a:spcAft>
            </a:pPr>
            <a:r>
              <a:rPr b="1" sz="720">
                <a:solidFill>
                  <a:srgbClr val="1E3A8A"/>
                </a:solidFill>
              </a:rPr>
              <a:t>Contract Call Decoder: </a:t>
            </a:r>
            <a:r>
              <a:rPr sz="680">
                <a:solidFill>
                  <a:srgbClr val="1E293B"/>
                </a:solidFill>
              </a:rPr>
              <a:t>Decodes internal smart contract traces to uncover hidden transfers &amp; swaps.</a:t>
            </a:r>
          </a:p>
          <a:p>
            <a:pPr>
              <a:spcAft>
                <a:spcPts val="200"/>
              </a:spcAft>
            </a:pPr>
            <a:r>
              <a:rPr b="1" sz="720">
                <a:solidFill>
                  <a:srgbClr val="1E3A8A"/>
                </a:solidFill>
              </a:rPr>
              <a:t>Mathematical Taint Engine: </a:t>
            </a:r>
            <a:r>
              <a:rPr sz="680">
                <a:solidFill>
                  <a:srgbClr val="1E293B"/>
                </a:solidFill>
              </a:rPr>
              <a:t>Carries exact proportional stolen dollar value through every multi-hop split.</a:t>
            </a:r>
          </a:p>
          <a:p>
            <a:pPr>
              <a:spcAft>
                <a:spcPts val="200"/>
              </a:spcAft>
            </a:pPr>
            <a:r>
              <a:rPr b="1" sz="720">
                <a:solidFill>
                  <a:srgbClr val="1E3A8A"/>
                </a:solidFill>
              </a:rPr>
              <a:t>Scam Wash Filtering: </a:t>
            </a:r>
            <a:r>
              <a:rPr sz="680">
                <a:solidFill>
                  <a:srgbClr val="1E293B"/>
                </a:solidFill>
              </a:rPr>
              <a:t>Automatically removes circular churn transactions engineered to mislead tracers.</a:t>
            </a:r>
          </a:p>
          <a:p>
            <a:pPr>
              <a:spcAft>
                <a:spcPts val="200"/>
              </a:spcAft>
            </a:pPr>
            <a:r>
              <a:rPr b="1" sz="720">
                <a:solidFill>
                  <a:srgbClr val="1E3A8A"/>
                </a:solidFill>
              </a:rPr>
              <a:t>Interactive Visual Canvas: </a:t>
            </a:r>
            <a:r>
              <a:rPr sz="680">
                <a:solidFill>
                  <a:srgbClr val="1E293B"/>
                </a:solidFill>
              </a:rPr>
              <a:t>Node-link inspection workspace for officers to analyze hops &amp; freeze targets.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005072" y="4334256"/>
            <a:ext cx="3017520" cy="23774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005072" y="4325112"/>
            <a:ext cx="30175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750">
                <a:solidFill>
                  <a:srgbClr val="FFFFFF"/>
                </a:solidFill>
                <a:latin typeface="Arial"/>
              </a:rPr>
              <a:t>TECHNOLOGIES USED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005072" y="4590288"/>
            <a:ext cx="4069080" cy="1828799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ectangle 17422"/>
          <p:cNvSpPr/>
          <p:nvPr/>
        </p:nvSpPr>
        <p:spPr>
          <a:xfrm>
            <a:off x="4005072" y="4590288"/>
            <a:ext cx="73152" cy="182879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114800" y="4645152"/>
            <a:ext cx="960120" cy="265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1E3A8A"/>
                </a:solidFill>
              </a:rPr>
              <a:t>Frontend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120640" y="4645152"/>
            <a:ext cx="2834640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1E293B"/>
                </a:solidFill>
              </a:rPr>
              <a:t>React 19 · TypeScript 6 · Vite 8 · Tailwind 4 · Cytoscape.js · Axios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114800" y="4905755"/>
            <a:ext cx="388620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114800" y="4928615"/>
            <a:ext cx="960120" cy="265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1E3A8A"/>
                </a:solidFill>
              </a:rPr>
              <a:t>Backend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120640" y="4928615"/>
            <a:ext cx="2834640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1E293B"/>
                </a:solidFill>
              </a:rPr>
              <a:t>Python 3.12 · FastAPI · SQLAlchemy 2 (async) · asyncpg · Pydantic v2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4114800" y="5189219"/>
            <a:ext cx="388620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114800" y="5212079"/>
            <a:ext cx="960120" cy="265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1E3A8A"/>
                </a:solidFill>
              </a:rPr>
              <a:t>Database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120640" y="5212079"/>
            <a:ext cx="2834640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1E293B"/>
                </a:solidFill>
              </a:rPr>
              <a:t>PostgreSQL 16 (Docker) · asyncpg driver · Alembic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114800" y="5472683"/>
            <a:ext cx="388620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114800" y="5495543"/>
            <a:ext cx="960120" cy="265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1E3A8A"/>
                </a:solidFill>
              </a:rPr>
              <a:t>Chain APIs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120640" y="5495543"/>
            <a:ext cx="2834640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1E293B"/>
                </a:solidFill>
              </a:rPr>
              <a:t>TronGrid (TRC-20 USDT) · Etherscan v2 (ERC-20) · Mempool.space (BTC)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4114800" y="5756147"/>
            <a:ext cx="388620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4114800" y="5779007"/>
            <a:ext cx="960120" cy="265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1E3A8A"/>
                </a:solidFill>
              </a:rPr>
              <a:t>Analytics &amp; AI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120640" y="5779007"/>
            <a:ext cx="2834640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1E293B"/>
                </a:solidFill>
              </a:rPr>
              <a:t>NetworkX (graph) · LightGBM · SHAP (explainability) · Hypothesis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4114800" y="6039611"/>
            <a:ext cx="388620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4114800" y="6062471"/>
            <a:ext cx="960120" cy="265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>
                <a:solidFill>
                  <a:srgbClr val="1E3A8A"/>
                </a:solidFill>
              </a:rPr>
              <a:t>Reports &amp; Tool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120640" y="6062471"/>
            <a:ext cx="2834640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1E293B"/>
                </a:solidFill>
              </a:rPr>
              <a:t>ReportLab (PDF dossier) · pytest · Browser Extension (Manifest v3)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8238744" y="4334256"/>
            <a:ext cx="3017520" cy="23774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8238744" y="4325112"/>
            <a:ext cx="30175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750">
                <a:solidFill>
                  <a:srgbClr val="FFFFFF"/>
                </a:solidFill>
                <a:latin typeface="Arial"/>
              </a:rPr>
              <a:t>PROTOTYPE &amp; DELIVERABLES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238744" y="4590288"/>
            <a:ext cx="3493008" cy="1828799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8238744" y="4590288"/>
            <a:ext cx="73152" cy="18287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8330184" y="4645152"/>
            <a:ext cx="3310128" cy="530351"/>
          </a:xfrm>
          <a:prstGeom prst="rect">
            <a:avLst/>
          </a:prstGeom>
          <a:solidFill>
            <a:srgbClr val="FFFFFF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8366760" y="4645152"/>
            <a:ext cx="3236976" cy="5303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b="1" sz="730">
                <a:solidFill>
                  <a:srgbClr val="059669"/>
                </a:solidFill>
              </a:rPr>
              <a:t>🌐 Live Interactive Prototype</a:t>
            </a:r>
          </a:p>
          <a:p>
            <a:pPr>
              <a:spcAft>
                <a:spcPts val="100"/>
              </a:spcAft>
            </a:pPr>
            <a:r>
              <a:rPr b="1" u="sng" sz="700">
                <a:solidFill>
                  <a:srgbClr val="1D4ED8"/>
                </a:solidFill>
                <a:hlinkClick r:id="rId5"/>
              </a:rPr>
              <a:t>🔗 chainnetra.shelfio.in ↗</a:t>
            </a:r>
          </a:p>
          <a:p>
            <a:r>
              <a:rPr sz="620">
                <a:solidFill>
                  <a:srgbClr val="64748B"/>
                </a:solidFill>
              </a:rPr>
              <a:t>Hosted deployment · Interactive graph tracer &amp; case builder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8330184" y="5212079"/>
            <a:ext cx="3310128" cy="530351"/>
          </a:xfrm>
          <a:prstGeom prst="rect">
            <a:avLst/>
          </a:prstGeom>
          <a:solidFill>
            <a:srgbClr val="FFFFFF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366760" y="5212079"/>
            <a:ext cx="3236976" cy="5303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b="1" sz="730">
                <a:solidFill>
                  <a:srgbClr val="DC2626"/>
                </a:solidFill>
              </a:rPr>
              <a:t>▶ Video Demonstration</a:t>
            </a:r>
          </a:p>
          <a:p>
            <a:pPr>
              <a:spcAft>
                <a:spcPts val="100"/>
              </a:spcAft>
            </a:pPr>
            <a:r>
              <a:rPr b="1" u="sng" sz="700">
                <a:solidFill>
                  <a:srgbClr val="1D4ED8"/>
                </a:solidFill>
                <a:hlinkClick r:id="rId6"/>
              </a:rPr>
              <a:t>🔗 youtu.be/LiQ5pdvHW3k ↗</a:t>
            </a:r>
          </a:p>
          <a:p>
            <a:r>
              <a:rPr sz="620">
                <a:solidFill>
                  <a:srgbClr val="64748B"/>
                </a:solidFill>
              </a:rPr>
              <a:t>End-to-end investigation &amp; Section 94/106 BNSS notice demo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8330184" y="5779007"/>
            <a:ext cx="3310128" cy="530351"/>
          </a:xfrm>
          <a:prstGeom prst="rect">
            <a:avLst/>
          </a:prstGeom>
          <a:solidFill>
            <a:srgbClr val="FFFFFF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8366760" y="5779007"/>
            <a:ext cx="3236976" cy="5303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b="1" sz="730">
                <a:solidFill>
                  <a:srgbClr val="1E3A8A"/>
                </a:solidFill>
              </a:rPr>
              <a:t>⌥ Source Code Repository</a:t>
            </a:r>
          </a:p>
          <a:p>
            <a:pPr>
              <a:spcAft>
                <a:spcPts val="100"/>
              </a:spcAft>
            </a:pPr>
            <a:r>
              <a:rPr b="1" u="sng" sz="700">
                <a:solidFill>
                  <a:srgbClr val="1D4ED8"/>
                </a:solidFill>
                <a:hlinkClick r:id="rId7"/>
              </a:rPr>
              <a:t>🔗 github.com/Shlok-kapade/sih26183-chainnetra ↗</a:t>
            </a:r>
          </a:p>
          <a:p>
            <a:r>
              <a:rPr sz="620">
                <a:solidFill>
                  <a:srgbClr val="64748B"/>
                </a:solidFill>
              </a:rPr>
              <a:t>FastAPI backend, React 19 UI, ML models &amp; test suites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SIH 2026  |  PS SIH26183 — ChainNetra  |  Team code2trip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288000" y="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182880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182880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code2trip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691640" y="32918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Georgia"/>
              </a:rPr>
              <a:t>Feasibility &amp; Viability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078992"/>
            <a:ext cx="475488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069848"/>
            <a:ext cx="4754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OPERATIONAL, LEGAL &amp; TECHNICAL FEASIBILITY OF CHAINNETRA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1408176"/>
            <a:ext cx="2697480" cy="1143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57200" y="1408176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94360" y="147218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059669"/>
                </a:solidFill>
              </a:rPr>
              <a:t>TECHNICAL FEASIBILITY
</a:t>
            </a:r>
          </a:p>
          <a:p>
            <a:r>
              <a:rPr b="1" sz="750">
                <a:solidFill>
                  <a:srgbClr val="0F172A"/>
                </a:solidFill>
              </a:rPr>
              <a:t>Lightweight &amp; Scalable
</a:t>
            </a:r>
          </a:p>
          <a:p>
            <a:r>
              <a:rPr sz="700">
                <a:solidFill>
                  <a:srgbClr val="1E293B"/>
                </a:solidFill>
              </a:rPr>
              <a:t>Runs on standard government cyber lab servers or state police data centers without requiring expensive specialized GPU/graph supercomputers.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10128" y="1408176"/>
            <a:ext cx="2697480" cy="1143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3310128" y="1408176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447288" y="147218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059669"/>
                </a:solidFill>
              </a:rPr>
              <a:t>ECONOMIC FEASIBILITY
</a:t>
            </a:r>
          </a:p>
          <a:p>
            <a:r>
              <a:rPr b="1" sz="750">
                <a:solidFill>
                  <a:srgbClr val="0F172A"/>
                </a:solidFill>
              </a:rPr>
              <a:t>Zero Licensing Barrier
</a:t>
            </a:r>
          </a:p>
          <a:p>
            <a:r>
              <a:rPr sz="700">
                <a:solidFill>
                  <a:srgbClr val="1E293B"/>
                </a:solidFill>
              </a:rPr>
              <a:t>Leverages decentralized public RPCs, open-source intelligence (OSINT), and crowd-sourced verified label databases, requiring ₹0 software licensing fees.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63056" y="1408176"/>
            <a:ext cx="2697480" cy="1143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6163056" y="1408176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300216" y="147218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059669"/>
                </a:solidFill>
              </a:rPr>
              <a:t>OPERATIONAL FEASIBILITY
</a:t>
            </a:r>
          </a:p>
          <a:p>
            <a:r>
              <a:rPr b="1" sz="750">
                <a:solidFill>
                  <a:srgbClr val="0F172A"/>
                </a:solidFill>
              </a:rPr>
              <a:t>Built for Grassroots IOs
</a:t>
            </a:r>
          </a:p>
          <a:p>
            <a:r>
              <a:rPr sz="700">
                <a:solidFill>
                  <a:srgbClr val="1E293B"/>
                </a:solidFill>
              </a:rPr>
              <a:t>Designed for investigating officers with zero blockchain engineering background—enter victim address, obtain actionable target VASP and pre-drafted freeze order.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15984" y="1408176"/>
            <a:ext cx="2697480" cy="1143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9015984" y="1408176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153144" y="147218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059669"/>
                </a:solidFill>
              </a:rPr>
              <a:t>LEGAL FEASIBILITY
</a:t>
            </a:r>
          </a:p>
          <a:p>
            <a:r>
              <a:rPr b="1" sz="750">
                <a:solidFill>
                  <a:srgbClr val="0F172A"/>
                </a:solidFill>
              </a:rPr>
              <a:t>Courtroom Admissible
</a:t>
            </a:r>
          </a:p>
          <a:p>
            <a:r>
              <a:rPr sz="700">
                <a:solidFill>
                  <a:srgbClr val="1E293B"/>
                </a:solidFill>
              </a:rPr>
              <a:t>Every on-chain metric is mathematically deterministic, eliminating AI hallucinations and satisfying the strict electronic evidence requirements of Indian courts.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2688336"/>
            <a:ext cx="34747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57200" y="2679192"/>
            <a:ext cx="3474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REAL-WORLD CYBER-FORENSIC CHALLENGES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26480" y="2688336"/>
            <a:ext cx="4114800" cy="2560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126480" y="2679192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CHAINNETRA FORENSIC MITIGATION STRATEGIES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3008376"/>
            <a:ext cx="5486400" cy="603504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457200" y="3008376"/>
            <a:ext cx="73152" cy="6035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594360" y="3054096"/>
            <a:ext cx="5257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High-Velocity Peeling &amp; Smurfing Layering: Fraudsters split illicit funds into dozens of sub-threshold transfers across 10+ hops to exhaust manual police tracing.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126480" y="3008376"/>
            <a:ext cx="5605272" cy="60350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6126480" y="3008376"/>
            <a:ext cx="73152" cy="60350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263640" y="3054096"/>
            <a:ext cx="53766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Autonomous Recursive Taint Engine: Traverses complex branching DAGs, carrying exact proportional stolen dollar value through every split regardless of depth or fan-out.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57200" y="3648456"/>
            <a:ext cx="5486400" cy="603504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457200" y="3648456"/>
            <a:ext cx="73152" cy="6035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594360" y="3694176"/>
            <a:ext cx="5257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Internal Smart Contract &amp; DEX Obfuscation: Over 90% of laundered USDT moves through contract calls and liquidity swaps that regular explorers fail to display.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26480" y="3648456"/>
            <a:ext cx="5605272" cy="60350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6126480" y="3648456"/>
            <a:ext cx="73152" cy="60350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263640" y="3694176"/>
            <a:ext cx="53766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Native Smart Contract Trace Parsing: Decodes TRC-20 and EVM internal call trees directly, capturing hidden fund movements and bridge transfers.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57200" y="4288536"/>
            <a:ext cx="5486400" cy="603504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457200" y="4288536"/>
            <a:ext cx="73152" cy="6035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594360" y="4334256"/>
            <a:ext cx="5257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Stale &amp; Misattributed Public Address Labels: Inaccurate open-source labels risk pointing investigators toward the wrong entity or causing illegal freezes.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126480" y="4288536"/>
            <a:ext cx="5605272" cy="60350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ectangle 17445"/>
          <p:cNvSpPr/>
          <p:nvPr/>
        </p:nvSpPr>
        <p:spPr>
          <a:xfrm>
            <a:off x="6126480" y="4288536"/>
            <a:ext cx="73152" cy="60350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6263640" y="4334256"/>
            <a:ext cx="53766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On-Chain Provenance &amp; Verification: Every label is verified on-chain against historical volume and Proof-of-Reserves (PoR); unverified labels capped at PROBABLE/POSSIBLE.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57200" y="4928616"/>
            <a:ext cx="5486400" cy="603504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457200" y="4928616"/>
            <a:ext cx="73152" cy="6035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594360" y="4974336"/>
            <a:ext cx="5257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Commercial Payment Gateways Mimicking Scams: Legitimate e-commerce payment processors aggregate funds similarly to scam consolidation funnels.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126480" y="4928616"/>
            <a:ext cx="5605272" cy="60350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6126480" y="4928616"/>
            <a:ext cx="73152" cy="60350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6263640" y="4974336"/>
            <a:ext cx="53766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Mandatory False-Positive Filtering: Behavioral suite actively checks for business hours, regular payroll sweeps, and merchant return loops before flagging.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57200" y="5568696"/>
            <a:ext cx="5486400" cy="603504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ectangle 17454"/>
          <p:cNvSpPr/>
          <p:nvPr/>
        </p:nvSpPr>
        <p:spPr>
          <a:xfrm>
            <a:off x="457200" y="5568696"/>
            <a:ext cx="73152" cy="6035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594360" y="5614416"/>
            <a:ext cx="5257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Foreign Non-Compliant Exchanges (Offshore VASPs): Scammers deliberately funnel funds into non-FIU-IND compliant offshore exchanges that ignore Indian LEA notices.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6126480" y="5568696"/>
            <a:ext cx="5605272" cy="60350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6126480" y="5568696"/>
            <a:ext cx="73152" cy="60350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6263640" y="5614416"/>
            <a:ext cx="53766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  <a:latin typeface="Arial"/>
              </a:rPr>
              <a:t>FIU-IND Status Intelligence &amp; Global LEA Routing: Flags VASP compliance status (FIU-IND registered vs. offshore), routing notices to international LEA portals (Interpol/NCB).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ectangle 1746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SIH 2026  |  PS SIH26183 — ChainNetra  |  Team code2trip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288000" y="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182880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182880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code2trip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691640" y="32918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Georgia"/>
              </a:rPr>
              <a:t>Impact &amp; Benefits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078992"/>
            <a:ext cx="5029200" cy="2560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069848"/>
            <a:ext cx="5029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SCALE OF CYBER FRAUD IN INDIA &amp; OPERATIONAL VALUE DELIVERY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1389888"/>
            <a:ext cx="3611880" cy="9601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57200" y="1389888"/>
            <a:ext cx="73152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21792" y="14630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1E3A8A"/>
                </a:solidFill>
              </a:rPr>
              <a:t>₹22,845+ Crore
</a:t>
            </a:r>
          </a:p>
          <a:p>
            <a:r>
              <a:rPr b="1" sz="750">
                <a:solidFill>
                  <a:srgbClr val="0F172A"/>
                </a:solidFill>
              </a:rPr>
              <a:t>Annual Cyber Fraud Losses in India: </a:t>
            </a:r>
            <a:r>
              <a:rPr sz="700">
                <a:solidFill>
                  <a:srgbClr val="1E293B"/>
                </a:solidFill>
              </a:rPr>
              <a:t>Official MHA data reported across Indian citizens on NCRP in 2024, highlighting the critical urgency for automated tracing tools.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79391" y="1389888"/>
            <a:ext cx="3611880" cy="9601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4279391" y="1389888"/>
            <a:ext cx="73152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443983" y="14630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1E3A8A"/>
                </a:solidFill>
              </a:rPr>
              <a:t>22.68+ Lakh Cases
</a:t>
            </a:r>
          </a:p>
          <a:p>
            <a:r>
              <a:rPr b="1" sz="750">
                <a:solidFill>
                  <a:srgbClr val="0F172A"/>
                </a:solidFill>
              </a:rPr>
              <a:t>Registered Cybercrime Incidents: </a:t>
            </a:r>
            <a:r>
              <a:rPr sz="700">
                <a:solidFill>
                  <a:srgbClr val="1E293B"/>
                </a:solidFill>
              </a:rPr>
              <a:t>Complaints registered on the National Cybercrime Reporting Portal (+42% YoY surge), overwhelming district investigation units.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01582" y="1389888"/>
            <a:ext cx="3611880" cy="9601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8101582" y="1389888"/>
            <a:ext cx="73152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8266174" y="14630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1E3A8A"/>
                </a:solidFill>
              </a:rPr>
              <a:t>Automated vs Manual
</a:t>
            </a:r>
          </a:p>
          <a:p>
            <a:r>
              <a:rPr b="1" sz="750">
                <a:solidFill>
                  <a:srgbClr val="0F172A"/>
                </a:solidFill>
              </a:rPr>
              <a:t>Investigation Velocity: </a:t>
            </a:r>
            <a:r>
              <a:rPr sz="700">
                <a:solidFill>
                  <a:srgbClr val="1E293B"/>
                </a:solidFill>
              </a:rPr>
              <a:t>Automated multi-hop graph traversal replaces days of manual blockchain explorer work — investigators get exchange identification instantly instead of 6–12 hours of manual analysis.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2468880"/>
            <a:ext cx="4114800" cy="2560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2459736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TARGET USER AUDIENCE &amp; OPERATIONAL VALUE DELIVERY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57200" y="2788920"/>
            <a:ext cx="361188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457200" y="2788920"/>
            <a:ext cx="73152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21792" y="2852928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1E3A8A"/>
                </a:solidFill>
              </a:rPr>
              <a:t>DISTRICT IOs — Cyber Cell Sub-Inspectors
</a:t>
            </a:r>
          </a:p>
          <a:p>
            <a:r>
              <a:rPr sz="750">
                <a:solidFill>
                  <a:srgbClr val="1E293B"/>
                </a:solidFill>
              </a:rPr>
              <a:t>Empowers grassroots investigating officers with zero crypto training to trace suspect wallets and obtain ready-to-sign Section 94/106 BNSS (Sec 91/102 CrPC) notices within minutes.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279391" y="2788920"/>
            <a:ext cx="361188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4279391" y="2788920"/>
            <a:ext cx="73152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443983" y="2852928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1E3A8A"/>
                </a:solidFill>
              </a:rPr>
              <a:t>STATE CYBER CELLS — I4C &amp; State Central Analysts
</a:t>
            </a:r>
          </a:p>
          <a:p>
            <a:r>
              <a:rPr sz="750">
                <a:solidFill>
                  <a:srgbClr val="1E293B"/>
                </a:solidFill>
              </a:rPr>
              <a:t>Discovers hidden syndicate clusters where the same exchange deposit funnel collects stolen funds from dozens of complaints across multiple states, unmasking organized crime networks.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101582" y="2788920"/>
            <a:ext cx="361188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8101582" y="2788920"/>
            <a:ext cx="73152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266174" y="2852928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1E3A8A"/>
                </a:solidFill>
              </a:rPr>
              <a:t>POLICE LEADERSHIP — Supervisory Chiefs &amp; Courts
</a:t>
            </a:r>
          </a:p>
          <a:p>
            <a:r>
              <a:rPr sz="750">
                <a:solidFill>
                  <a:srgbClr val="1E293B"/>
                </a:solidFill>
              </a:rPr>
              <a:t>Delivers court-admissible Section 63 BSA (Sec 65B IEA) certified PDF case files with complete cryptographic SHA-256 hash trails for swift judicial conviction and asset recovery.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3968496"/>
            <a:ext cx="320040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457200" y="3959352"/>
            <a:ext cx="3200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OPERATIONAL WORKFLOW COMPARISON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57200" y="4288536"/>
            <a:ext cx="5440680" cy="8686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457200" y="4288536"/>
            <a:ext cx="73152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621792" y="4379976"/>
            <a:ext cx="5166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</a:rPr>
              <a:t>CURRENT MANUAL INVESTIGATION BOTTLENECK
</a:t>
            </a:r>
          </a:p>
          <a:p>
            <a:r>
              <a:rPr sz="750">
                <a:solidFill>
                  <a:srgbClr val="1E293B"/>
                </a:solidFill>
              </a:rPr>
              <a:t>Investigating officers manually toggle public block explorers across 20 browser tabs. Tracing 3 hops takes 6–12 hours, frequently stalls at internal contract calls or mixers, and yields unstandardized notes inadmissible in court.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26480" y="4288536"/>
            <a:ext cx="5605272" cy="8686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6126480" y="4288536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291072" y="4379976"/>
            <a:ext cx="5349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059669"/>
                </a:solidFill>
              </a:rPr>
              <a:t>WITH CHAINNETRA AUTOMATION
</a:t>
            </a:r>
          </a:p>
          <a:p>
            <a:r>
              <a:rPr sz="750">
                <a:solidFill>
                  <a:srgbClr val="1E293B"/>
                </a:solidFill>
              </a:rPr>
              <a:t>Autonomous multi-hop tracing, DAR clustering, and VASP identification run fully automated. Instantly generates Section 94/106 BNSS (Sec 91/102 CrPC) legal freeze notices with SHA-256 evidence logs.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57200" y="5248656"/>
            <a:ext cx="11274552" cy="841248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457200" y="5248656"/>
            <a:ext cx="73152" cy="8412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621792" y="5321808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00">
                <a:solidFill>
                  <a:srgbClr val="EA580C"/>
                </a:solidFill>
              </a:rPr>
              <a:t>ETHICAL, LEGAL &amp; TECHNICAL BOUNDARIES OF CHAINNETRA
</a:t>
            </a:r>
          </a:p>
          <a:p>
            <a:r>
              <a:rPr sz="700">
                <a:solidFill>
                  <a:srgbClr val="1E293B"/>
                </a:solidFill>
              </a:rPr>
              <a:t>• Custodial Institution Identification, Not Private Doxxing: Public blockchain data identifies regulated custodial entities (VASPs); private citizen KYC remains protected until lawful subpoena execution.
• Objective Taint Evidence vs. Criminal Guilt: The system outputs mathematical contamination scores and behavioral anomaly metrics; formal guilt determination remains the sole prerogative of the court.
• Open Integration Standard: Designed with modular REST APIs ready for direct native integration into I4C NCRP and CFCFRMS portals.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ectangle 174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SIH 2026  |  PS SIH26183 — ChainNetra  |  Team code2trip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288000" y="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182880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182880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code2trip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691640" y="32918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Georgia"/>
              </a:rPr>
              <a:t>Research &amp; References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078992"/>
            <a:ext cx="5943600" cy="2560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069848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Arial"/>
              </a:rPr>
              <a:t>INDIAN STATUTORY FRAMEWORK, FORENSIC RESEARCH &amp; COMPLIANCE ASSURANCE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1408176"/>
            <a:ext cx="3611880" cy="44074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57200" y="1408176"/>
            <a:ext cx="73152" cy="44074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21792" y="1517904"/>
            <a:ext cx="3337560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50">
                <a:solidFill>
                  <a:srgbClr val="1E3A8A"/>
                </a:solidFill>
              </a:rPr>
              <a:t>INDIAN STATUTORY &amp; PROCEDURAL MANDATES
</a:t>
            </a:r>
          </a:p>
          <a:p>
            <a:r>
              <a:rPr b="1" sz="750">
                <a:solidFill>
                  <a:srgbClr val="0F172A"/>
                </a:solidFill>
              </a:rPr>
              <a:t>MHA / I4C NCRP-CFCFRMS SOP (Jan 2026): </a:t>
            </a:r>
            <a:r>
              <a:rPr sz="700">
                <a:solidFill>
                  <a:srgbClr val="1E293B"/>
                </a:solidFill>
              </a:rPr>
              <a:t>Establishes standard protocol directing LEAs to conduct forensic VDA tracing to identify custodial exchange nodes for non-onboarded VASPs.
</a:t>
            </a:r>
          </a:p>
          <a:p>
            <a:r>
              <a:rPr b="1" sz="750">
                <a:solidFill>
                  <a:srgbClr val="0F172A"/>
                </a:solidFill>
              </a:rPr>
              <a:t>Section 94 BNSS 2023 (Sec 91 CrPC): </a:t>
            </a:r>
            <a:r>
              <a:rPr sz="700">
                <a:solidFill>
                  <a:srgbClr val="1E293B"/>
                </a:solidFill>
              </a:rPr>
              <a:t>Statutory summons authority empowering investigating officers to requisition KYC records, login IP histories, and linked accounts from exchanges.
</a:t>
            </a:r>
          </a:p>
          <a:p>
            <a:r>
              <a:rPr b="1" sz="750">
                <a:solidFill>
                  <a:srgbClr val="0F172A"/>
                </a:solidFill>
              </a:rPr>
              <a:t>Section 106 BNSS 2023 (Sec 102 CrPC): </a:t>
            </a:r>
            <a:r>
              <a:rPr sz="700">
                <a:solidFill>
                  <a:srgbClr val="1E293B"/>
                </a:solidFill>
              </a:rPr>
              <a:t>Police power to issue immediate property seizure and balance freezing directives on fraud-linked VASP custodial accounts.
</a:t>
            </a:r>
          </a:p>
          <a:p>
            <a:r>
              <a:rPr b="1" sz="750">
                <a:solidFill>
                  <a:srgbClr val="0F172A"/>
                </a:solidFill>
              </a:rPr>
              <a:t>Section 63 BSA 2023 (Sec 65B IEA): </a:t>
            </a:r>
            <a:r>
              <a:rPr sz="700">
                <a:solidFill>
                  <a:srgbClr val="1E293B"/>
                </a:solidFill>
              </a:rPr>
              <a:t>Mandates cryptographic SHA-256 hash certification and immutable chain-of-custody for electronic evidence admissibility in Indian courts.
</a:t>
            </a:r>
          </a:p>
          <a:p>
            <a:r>
              <a:rPr b="1" sz="750">
                <a:solidFill>
                  <a:srgbClr val="0F172A"/>
                </a:solidFill>
              </a:rPr>
              <a:t>PMLA Gazette S.O. 1072(E) &amp; FIU-IND: </a:t>
            </a:r>
            <a:r>
              <a:rPr sz="700">
                <a:solidFill>
                  <a:srgbClr val="1E293B"/>
                </a:solidFill>
              </a:rPr>
              <a:t>Mandates anti-money laundering registration and reporting compliance for all Virtual Digital Asset Service Providers operating in India.
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97680" y="1408176"/>
            <a:ext cx="3611880" cy="44074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4297680" y="1408176"/>
            <a:ext cx="73152" cy="44074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462272" y="1517904"/>
            <a:ext cx="3337560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50">
                <a:solidFill>
                  <a:srgbClr val="EA580C"/>
                </a:solidFill>
              </a:rPr>
              <a:t>ACADEMIC FORENSICS &amp; THREAT INTELLIGENCE
</a:t>
            </a:r>
          </a:p>
          <a:p>
            <a:r>
              <a:rPr b="1" sz="750">
                <a:solidFill>
                  <a:srgbClr val="0F172A"/>
                </a:solidFill>
              </a:rPr>
              <a:t>UNODC Southeast Asia Crime Report (2024): </a:t>
            </a:r>
            <a:r>
              <a:rPr sz="700">
                <a:solidFill>
                  <a:srgbClr val="1E293B"/>
                </a:solidFill>
              </a:rPr>
              <a:t>Identifies TRON-based USDT as the predominant currency for regional scam syndicates, confirming the necessity of specialized TRC-20 tracking.
</a:t>
            </a:r>
          </a:p>
          <a:p>
            <a:r>
              <a:rPr b="1" sz="750">
                <a:solidFill>
                  <a:srgbClr val="0F172A"/>
                </a:solidFill>
              </a:rPr>
              <a:t>TRM Labs Illicit Crypto Report (2025): </a:t>
            </a:r>
            <a:r>
              <a:rPr sz="700">
                <a:solidFill>
                  <a:srgbClr val="1E293B"/>
                </a:solidFill>
              </a:rPr>
              <a:t>Documents that 58%+ of global illicit stablecoin volume moves via TRON due to sub-dollar fees, validating ChainNetra's deep TRC-20 trace parsing.
</a:t>
            </a:r>
          </a:p>
          <a:p>
            <a:r>
              <a:rPr b="1" sz="750">
                <a:solidFill>
                  <a:srgbClr val="0F172A"/>
                </a:solidFill>
              </a:rPr>
              <a:t>Enforcement Directorate (ED) Precedents: </a:t>
            </a:r>
            <a:r>
              <a:rPr sz="700">
                <a:solidFill>
                  <a:srgbClr val="1E293B"/>
                </a:solidFill>
              </a:rPr>
              <a:t>Case studies (₹285 Cr scam, ₹391 Cr syndicate) prove illicit proceeds systematically off-ramp via P2P networks into Indian bank accounts.
</a:t>
            </a:r>
          </a:p>
          <a:p>
            <a:r>
              <a:rPr b="1" sz="750">
                <a:solidFill>
                  <a:srgbClr val="0F172A"/>
                </a:solidFill>
              </a:rPr>
              <a:t>Victor (2020) Deposit Address Clustering: </a:t>
            </a:r>
            <a:r>
              <a:rPr sz="700">
                <a:solidFill>
                  <a:srgbClr val="1E293B"/>
                </a:solidFill>
              </a:rPr>
              <a:t>Peer-reviewed heuristic establishing deposit-address-reuse patterns and sweeping thresholds for custodial exchange attribution.
</a:t>
            </a:r>
          </a:p>
          <a:p>
            <a:r>
              <a:rPr b="1" sz="750">
                <a:solidFill>
                  <a:srgbClr val="0F172A"/>
                </a:solidFill>
              </a:rPr>
              <a:t>Meiklejohn et al. Taint Tracking Models: </a:t>
            </a:r>
            <a:r>
              <a:rPr sz="700">
                <a:solidFill>
                  <a:srgbClr val="1E293B"/>
                </a:solidFill>
              </a:rPr>
              <a:t>Scientific validation proving Proportional Haircut Taint propagation is superior to FIFO in split, merge, and mixing laundering scenarios.
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38160" y="1408176"/>
            <a:ext cx="3611880" cy="44074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8138160" y="1408176"/>
            <a:ext cx="73152" cy="44074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8302752" y="1517904"/>
            <a:ext cx="3337560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850">
                <a:solidFill>
                  <a:srgbClr val="059669"/>
                </a:solidFill>
              </a:rPr>
              <a:t>SYSTEM INTEGRITY &amp; PRODUCTION VERIFICATION
</a:t>
            </a:r>
          </a:p>
          <a:p>
            <a:r>
              <a:rPr b="1" sz="750">
                <a:solidFill>
                  <a:srgbClr val="0F172A"/>
                </a:solidFill>
              </a:rPr>
              <a:t>Forensic Anomaly Suite Validation: </a:t>
            </a:r>
            <a:r>
              <a:rPr sz="700">
                <a:solidFill>
                  <a:srgbClr val="1E293B"/>
                </a:solidFill>
              </a:rPr>
              <a:t>Tested against realistic synthetic laundering patterns: peel chains, rapid forwarding, smurfing, dormancy bursts, and wash churning.
</a:t>
            </a:r>
          </a:p>
          <a:p>
            <a:r>
              <a:rPr b="1" sz="750">
                <a:solidFill>
                  <a:srgbClr val="0F172A"/>
                </a:solidFill>
              </a:rPr>
              <a:t>OFAC SDN Sanctioned Entity Ingestion: </a:t>
            </a:r>
            <a:r>
              <a:rPr sz="700">
                <a:solidFill>
                  <a:srgbClr val="1E293B"/>
                </a:solidFill>
              </a:rPr>
              <a:t>Incorporates 400+ verified cryptocurrency addresses from global sanctions lists, automatically flagged as Tier-1 CONFIRMED sanctions risks.
</a:t>
            </a:r>
          </a:p>
          <a:p>
            <a:r>
              <a:rPr b="1" sz="750">
                <a:solidFill>
                  <a:srgbClr val="0F172A"/>
                </a:solidFill>
              </a:rPr>
              <a:t>Proof-of-Reserves (PoR) Verification: </a:t>
            </a:r>
            <a:r>
              <a:rPr sz="700">
                <a:solidFill>
                  <a:srgbClr val="1E293B"/>
                </a:solidFill>
              </a:rPr>
              <a:t>Exchange-published reserve addresses (Binance, OKX, CoinDCX, WazirX) ingested and verified on-chain to maintain zero-cost attribution precision.
</a:t>
            </a:r>
          </a:p>
          <a:p>
            <a:r>
              <a:rPr b="1" sz="750">
                <a:solidFill>
                  <a:srgbClr val="0F172A"/>
                </a:solidFill>
              </a:rPr>
              <a:t>Cryptographic Chain-of-Custody: </a:t>
            </a:r>
            <a:r>
              <a:rPr sz="700">
                <a:solidFill>
                  <a:srgbClr val="1E293B"/>
                </a:solidFill>
              </a:rPr>
              <a:t>Every raw JSON response from external RPCs is stored alongside its SHA-256 hash in PostgreSQL to ensure unbroken chain-of-custody in court.
</a:t>
            </a:r>
          </a:p>
          <a:p>
            <a:r>
              <a:rPr b="1" sz="750">
                <a:solidFill>
                  <a:srgbClr val="0F172A"/>
                </a:solidFill>
              </a:rPr>
              <a:t>Designed for National Scale (NCRP / CFCFRMS): </a:t>
            </a:r>
            <a:r>
              <a:rPr sz="700">
                <a:solidFill>
                  <a:srgbClr val="1E293B"/>
                </a:solidFill>
              </a:rPr>
              <a:t>Modular API architecture ready for direct integration into I4C's national cybercrime reporting infrastructure and state cyber cells.
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961888"/>
            <a:ext cx="112745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Compliance Assurance: All blockchain queries adhere strictly to public API rate terms. No proprietary databases scraped. Every label records source, license, and capture timestamp.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SIH 2026  |  PS SIH26183 — ChainNetra  |  Team code2trip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